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e58c0926464bb9" /><Relationship Type="http://schemas.openxmlformats.org/officeDocument/2006/relationships/extended-properties" Target="/docProps/app.xml" Id="R088f88414b9045c0" /><Relationship Type="http://schemas.openxmlformats.org/officeDocument/2006/relationships/officeDocument" Target="/ppt/presentation.xml" Id="Raabb160ae3444e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a5c5f08c5f4bd6"/>
  </p:sldMasterIdLst>
  <p:notesMasterIdLst>
    <p:notesMasterId xmlns:r="http://schemas.openxmlformats.org/officeDocument/2006/relationships" r:id="Re3f5e49f185f4802"/>
  </p:notesMasterIdLst>
  <p:sldIdLst>
    <p:sldId xmlns:r="http://schemas.openxmlformats.org/officeDocument/2006/relationships" id="256" r:id="R8e6b0ac7baa946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27a54d7ba2471f" /><Relationship Type="http://schemas.openxmlformats.org/officeDocument/2006/relationships/slideMaster" Target="/ppt/slideMasters/slideMaster1.xml" Id="R1da5c5f08c5f4bd6" /><Relationship Type="http://schemas.openxmlformats.org/officeDocument/2006/relationships/notesMaster" Target="/ppt/notesMasters/notesMaster1.xml" Id="Re3f5e49f185f4802" /><Relationship Type="http://schemas.openxmlformats.org/officeDocument/2006/relationships/presProps" Target="/ppt/presProps.xml" Id="R4036da9b4d2f454e" /><Relationship Type="http://schemas.openxmlformats.org/officeDocument/2006/relationships/tableStyles" Target="/ppt/tableStyles.xml" Id="Rffbbff44490b4e8a" /><Relationship Type="http://schemas.openxmlformats.org/officeDocument/2006/relationships/slide" Target="/ppt/slides/slide1.xml" Id="R8e6b0ac7baa946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9d8d873e54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89c5212c9d4e39" /><Relationship Type="http://schemas.openxmlformats.org/officeDocument/2006/relationships/notesMaster" Target="/ppt/notesMasters/notesMaster1.xml" Id="Rbcc10af6bd974f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HackerRank reports year-over-year hiring activity increases of 22% for lead developers, 19% for senior developers, 9% for junior developers, and 7% for entry-level hiring. These are platform hiring activity signals, not counts of all job openings.</a:t>
            </a:r>
          </a:p>
          <a:p xmlns:a="http://schemas.openxmlformats.org/drawingml/2006/main">
            <a:r>
              <a:t>LinkedIn Economic Graph, U.S. Software Engineer Talent Landscape (February 2026): https://economicgraph.linkedin.com/content/dam/me/economicgraph/en-us/PDF/us-software-engineer-talent-landscape-2026.pdf</a:t>
            </a:r>
          </a:p>
          <a:p xmlns:a="http://schemas.openxmlformats.org/drawingml/2006/main">
            <a:r>
              <a:t>HackerRank, 2025 Developer Skills Report: https://embed.hackerrank.com/reports/developer-skills-report-2025</a:t>
            </a:r>
          </a:p>
          <a:p xmlns:a="http://schemas.openxmlformats.org/drawingml/2006/main">
            <a:r>
              <a:t>The evidence describes changing skill demand and uneven hiring activity. It does not establish that AI caused weak entry-level hiring.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5eb08ce5b44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974b2383844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12a680eba4a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e97cf626747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ea3fd73574a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6251a1332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EBBB74-F996-4A41-9D4A-2F28BA2AB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490468-5143-4FA1-B59E-745BB3BA1D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49ACD8-BB6B-45F1-A8CC-EF4092F2E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F95173-16E9-42AE-A79E-07360D95EF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F22373-7786-4298-ABB7-AE95AC50CF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51E767-ED90-4780-8FB5-02CD8C8DA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A413AA-4F3F-4C6E-BDA3-9B96F2A6C9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2AED9E-32DF-44B6-8F36-ED16F75F8E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842E5B-6483-4063-A930-296FC857E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EA9DF6-412F-4A2D-B97F-3A699E2BC0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c10fb5cf384b13" /><Relationship Type="http://schemas.openxmlformats.org/officeDocument/2006/relationships/slideLayout" Target="/ppt/slideLayouts/slideLayout1.xml" Id="Rbb5eaff89169437a" /><Relationship Type="http://schemas.openxmlformats.org/officeDocument/2006/relationships/slideLayout" Target="/ppt/slideLayouts/slideLayout2.xml" Id="R02332f7fe35f402a" /><Relationship Type="http://schemas.openxmlformats.org/officeDocument/2006/relationships/slideLayout" Target="/ppt/slideLayouts/slideLayout3.xml" Id="Rf8f307d8b5bf47de" /><Relationship Type="http://schemas.openxmlformats.org/officeDocument/2006/relationships/slideLayout" Target="/ppt/slideLayouts/slideLayout4.xml" Id="R7f38b0d0d7a04933" /><Relationship Type="http://schemas.openxmlformats.org/officeDocument/2006/relationships/slideLayout" Target="/ppt/slideLayouts/slideLayout5.xml" Id="R83e7025eeb934985" /><Relationship Type="http://schemas.openxmlformats.org/officeDocument/2006/relationships/slideLayout" Target="/ppt/slideLayouts/slideLayout6.xml" Id="R5518d009058149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5eaff89169437a"/>
    <p:sldLayoutId xmlns:r="http://schemas.openxmlformats.org/officeDocument/2006/relationships" id="2147483650" r:id="R02332f7fe35f402a"/>
    <p:sldLayoutId xmlns:r="http://schemas.openxmlformats.org/officeDocument/2006/relationships" id="2147483651" r:id="Rf8f307d8b5bf47de"/>
    <p:sldLayoutId xmlns:r="http://schemas.openxmlformats.org/officeDocument/2006/relationships" id="2147483652" r:id="R7f38b0d0d7a04933"/>
    <p:sldLayoutId xmlns:r="http://schemas.openxmlformats.org/officeDocument/2006/relationships" id="2147483653" r:id="R83e7025eeb934985"/>
    <p:sldLayoutId xmlns:r="http://schemas.openxmlformats.org/officeDocument/2006/relationships" id="2147483654" r:id="R5518d009058149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f1e7eb8202433a" /><Relationship Type="http://schemas.openxmlformats.org/officeDocument/2006/relationships/notesSlide" Target="/ppt/notesSlides/notesSlide1.xml" Id="R7d29ac8ab1514c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1309E31-ABAA-4628-838E-66770AD6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BA983987-3648-4840-AE7B-8C2BD0FA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B7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5069CF7-5DE1-4DAC-BC4F-8AFA88CE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8CD8C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D8CC"/>
                </a:solidFill>
                <a:latin typeface="Arial"/>
                <a:ea typeface="Arial"/>
                <a:cs typeface="Arial"/>
              </a:rPr>
              <a:t>PART B  /  HIRING TRENDS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6947DA-B193-4EBC-954B-75CEA29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 Developer Hiring Trends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CEC313A-DE76-4ADB-8214-4A597E25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2DC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2DCE7"/>
                </a:solidFill>
                <a:latin typeface="Arial"/>
                <a:ea typeface="Arial"/>
                <a:cs typeface="Arial"/>
              </a:rPr>
              <a:t>Hiring activity favors experienced developers; skill needs are shifting.</a:t>
            </a:r>
          </a:p>
        </p:txBody>
      </p:sp>
      <p:sp>
        <p:nvSpPr>
          <p:cNvPr id="6" name="chart-heading">
            <a:extLst xmlns:a="http://schemas.openxmlformats.org/drawingml/2006/main">
              <a:ext uri="{FF2B5EF4-FFF2-40B4-BE49-F238E27FC236}">
                <a16:creationId xmlns:a16="http://schemas.microsoft.com/office/drawing/2014/main" id="{82F8149C-B22D-49CC-A0CF-85846D05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Hiring activity by seniority</a:t>
            </a:r>
          </a:p>
        </p:txBody>
      </p:sp>
      <p:sp>
        <p:nvSpPr>
          <p:cNvPr id="7" name="chart-subheading">
            <a:extLst xmlns:a="http://schemas.openxmlformats.org/drawingml/2006/main">
              <a:ext uri="{FF2B5EF4-FFF2-40B4-BE49-F238E27FC236}">
                <a16:creationId xmlns:a16="http://schemas.microsoft.com/office/drawing/2014/main" id="{C0D8CD9F-F7BC-4DE4-9E17-143B4E06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Year-over-year change in hiring activity</a:t>
            </a:r>
          </a:p>
        </p:txBody>
      </p:sp>
      <p:sp>
        <p:nvSpPr>
          <p:cNvPr id="8" name="role-0">
            <a:extLst xmlns:a="http://schemas.openxmlformats.org/drawingml/2006/main">
              <a:ext uri="{FF2B5EF4-FFF2-40B4-BE49-F238E27FC236}">
                <a16:creationId xmlns:a16="http://schemas.microsoft.com/office/drawing/2014/main" id="{B9A62BED-449E-4445-9377-A34E20D8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447"/>
                </a:solidFill>
                <a:latin typeface="Arial"/>
                <a:ea typeface="Arial"/>
                <a:cs typeface="Arial"/>
              </a:rPr>
              <a:t>Lead</a:t>
            </a:r>
          </a:p>
        </p:txBody>
      </p:sp>
      <p:sp>
        <p:nvSpPr>
          <p:cNvPr id="9" name="track-0">
            <a:extLst xmlns:a="http://schemas.openxmlformats.org/drawingml/2006/main">
              <a:ext uri="{FF2B5EF4-FFF2-40B4-BE49-F238E27FC236}">
                <a16:creationId xmlns:a16="http://schemas.microsoft.com/office/drawing/2014/main" id="{75B8B38E-3543-4C9E-B190-6A865DA3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3333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r-0">
            <a:extLst xmlns:a="http://schemas.openxmlformats.org/drawingml/2006/main">
              <a:ext uri="{FF2B5EF4-FFF2-40B4-BE49-F238E27FC236}">
                <a16:creationId xmlns:a16="http://schemas.microsoft.com/office/drawing/2014/main" id="{D1F30D8B-1F68-49D7-BA57-9D9F0304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3048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alue-0">
            <a:extLst xmlns:a="http://schemas.openxmlformats.org/drawingml/2006/main">
              <a:ext uri="{FF2B5EF4-FFF2-40B4-BE49-F238E27FC236}">
                <a16:creationId xmlns:a16="http://schemas.microsoft.com/office/drawing/2014/main" id="{90645A1B-2241-41E8-BC51-CD551536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8F84"/>
                </a:solidFill>
                <a:latin typeface="Arial"/>
                <a:ea typeface="Arial"/>
                <a:cs typeface="Arial"/>
              </a:rPr>
              <a:t>+22%</a:t>
            </a:r>
          </a:p>
        </p:txBody>
      </p:sp>
      <p:sp>
        <p:nvSpPr>
          <p:cNvPr id="12" name="role-1">
            <a:extLst xmlns:a="http://schemas.openxmlformats.org/drawingml/2006/main">
              <a:ext uri="{FF2B5EF4-FFF2-40B4-BE49-F238E27FC236}">
                <a16:creationId xmlns:a16="http://schemas.microsoft.com/office/drawing/2014/main" id="{D7E5AEEE-1652-4C1E-AEDD-4BB2E8D5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447"/>
                </a:solidFill>
                <a:latin typeface="Arial"/>
                <a:ea typeface="Arial"/>
                <a:cs typeface="Arial"/>
              </a:rPr>
              <a:t>Senior</a:t>
            </a:r>
          </a:p>
        </p:txBody>
      </p:sp>
      <p:sp>
        <p:nvSpPr>
          <p:cNvPr id="13" name="track-1">
            <a:extLst xmlns:a="http://schemas.openxmlformats.org/drawingml/2006/main">
              <a:ext uri="{FF2B5EF4-FFF2-40B4-BE49-F238E27FC236}">
                <a16:creationId xmlns:a16="http://schemas.microsoft.com/office/drawing/2014/main" id="{93AF9CA5-5964-446B-9F30-0B6D4DF1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3333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r-1">
            <a:extLst xmlns:a="http://schemas.openxmlformats.org/drawingml/2006/main">
              <a:ext uri="{FF2B5EF4-FFF2-40B4-BE49-F238E27FC236}">
                <a16:creationId xmlns:a16="http://schemas.microsoft.com/office/drawing/2014/main" id="{19F8DF11-C2BC-4D25-92CC-4F9B049D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2632364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lue-1">
            <a:extLst xmlns:a="http://schemas.openxmlformats.org/drawingml/2006/main">
              <a:ext uri="{FF2B5EF4-FFF2-40B4-BE49-F238E27FC236}">
                <a16:creationId xmlns:a16="http://schemas.microsoft.com/office/drawing/2014/main" id="{586AD4B3-7619-4758-B57F-434BD47B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861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8F84"/>
                </a:solidFill>
                <a:latin typeface="Arial"/>
                <a:ea typeface="Arial"/>
                <a:cs typeface="Arial"/>
              </a:rPr>
              <a:t>+19%</a:t>
            </a:r>
          </a:p>
        </p:txBody>
      </p:sp>
      <p:sp>
        <p:nvSpPr>
          <p:cNvPr id="16" name="role-2">
            <a:extLst xmlns:a="http://schemas.openxmlformats.org/drawingml/2006/main">
              <a:ext uri="{FF2B5EF4-FFF2-40B4-BE49-F238E27FC236}">
                <a16:creationId xmlns:a16="http://schemas.microsoft.com/office/drawing/2014/main" id="{68EE1DAD-26E1-4D41-96DD-DC677A89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7"/>
                </a:solidFill>
                <a:latin typeface="Arial"/>
                <a:ea typeface="Arial"/>
                <a:cs typeface="Arial"/>
              </a:rPr>
              <a:t>Junior</a:t>
            </a:r>
          </a:p>
        </p:txBody>
      </p:sp>
      <p:sp>
        <p:nvSpPr>
          <p:cNvPr id="17" name="track-2">
            <a:extLst xmlns:a="http://schemas.openxmlformats.org/drawingml/2006/main">
              <a:ext uri="{FF2B5EF4-FFF2-40B4-BE49-F238E27FC236}">
                <a16:creationId xmlns:a16="http://schemas.microsoft.com/office/drawing/2014/main" id="{7B6AADDD-ED78-43D7-8AB3-21726DEA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3333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r-2">
            <a:extLst xmlns:a="http://schemas.openxmlformats.org/drawingml/2006/main">
              <a:ext uri="{FF2B5EF4-FFF2-40B4-BE49-F238E27FC236}">
                <a16:creationId xmlns:a16="http://schemas.microsoft.com/office/drawing/2014/main" id="{D3FDD089-B31A-49AD-B48C-7364FB52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1246909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value-2">
            <a:extLst xmlns:a="http://schemas.openxmlformats.org/drawingml/2006/main">
              <a:ext uri="{FF2B5EF4-FFF2-40B4-BE49-F238E27FC236}">
                <a16:creationId xmlns:a16="http://schemas.microsoft.com/office/drawing/2014/main" id="{4F81CF84-614C-44C4-883A-EC62EC6F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89A34"/>
                </a:solidFill>
                <a:latin typeface="Arial"/>
                <a:ea typeface="Arial"/>
                <a:cs typeface="Arial"/>
              </a:rPr>
              <a:t>+9%</a:t>
            </a:r>
          </a:p>
        </p:txBody>
      </p:sp>
      <p:sp>
        <p:nvSpPr>
          <p:cNvPr id="20" name="role-3">
            <a:extLst xmlns:a="http://schemas.openxmlformats.org/drawingml/2006/main">
              <a:ext uri="{FF2B5EF4-FFF2-40B4-BE49-F238E27FC236}">
                <a16:creationId xmlns:a16="http://schemas.microsoft.com/office/drawing/2014/main" id="{E9F4A9AD-CC6B-41DA-9CEB-4B8CCBE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44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47"/>
                </a:solidFill>
                <a:latin typeface="Arial"/>
                <a:ea typeface="Arial"/>
                <a:cs typeface="Arial"/>
              </a:rPr>
              <a:t>Entry-level</a:t>
            </a:r>
          </a:p>
        </p:txBody>
      </p:sp>
      <p:sp>
        <p:nvSpPr>
          <p:cNvPr id="21" name="track-3">
            <a:extLst xmlns:a="http://schemas.openxmlformats.org/drawingml/2006/main">
              <a:ext uri="{FF2B5EF4-FFF2-40B4-BE49-F238E27FC236}">
                <a16:creationId xmlns:a16="http://schemas.microsoft.com/office/drawing/2014/main" id="{1E7CC6C4-85F3-4A90-B50B-3914F933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38725"/>
            <a:ext cx="3333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r-3">
            <a:extLst xmlns:a="http://schemas.openxmlformats.org/drawingml/2006/main">
              <a:ext uri="{FF2B5EF4-FFF2-40B4-BE49-F238E27FC236}">
                <a16:creationId xmlns:a16="http://schemas.microsoft.com/office/drawing/2014/main" id="{585087D6-0130-4FDD-A6C2-292531E0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38725"/>
            <a:ext cx="969818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8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value-3">
            <a:extLst xmlns:a="http://schemas.openxmlformats.org/drawingml/2006/main">
              <a:ext uri="{FF2B5EF4-FFF2-40B4-BE49-F238E27FC236}">
                <a16:creationId xmlns:a16="http://schemas.microsoft.com/office/drawing/2014/main" id="{ACA659D8-DD9A-4EAD-B4C0-CECB965A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625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D89A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89A34"/>
                </a:solidFill>
                <a:latin typeface="Arial"/>
                <a:ea typeface="Arial"/>
                <a:cs typeface="Arial"/>
              </a:rPr>
              <a:t>+7%</a:t>
            </a:r>
          </a:p>
        </p:txBody>
      </p:sp>
      <p:sp>
        <p:nvSpPr>
          <p:cNvPr id="2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62044347-82B8-46C2-866B-E5F983C2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19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kills-eyebrow">
            <a:extLst xmlns:a="http://schemas.openxmlformats.org/drawingml/2006/main">
              <a:ext uri="{FF2B5EF4-FFF2-40B4-BE49-F238E27FC236}">
                <a16:creationId xmlns:a16="http://schemas.microsoft.com/office/drawing/2014/main" id="{9A7177FE-C4CF-4B58-A143-53A11986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88F8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8F84"/>
                </a:solidFill>
                <a:latin typeface="Arial"/>
                <a:ea typeface="Arial"/>
                <a:cs typeface="Arial"/>
              </a:rPr>
              <a:t>SKILLS IN DEMAND</a:t>
            </a:r>
          </a:p>
        </p:txBody>
      </p:sp>
      <p:sp>
        <p:nvSpPr>
          <p:cNvPr id="26" name="skills-heading">
            <a:extLst xmlns:a="http://schemas.openxmlformats.org/drawingml/2006/main">
              <a:ext uri="{FF2B5EF4-FFF2-40B4-BE49-F238E27FC236}">
                <a16:creationId xmlns:a16="http://schemas.microsoft.com/office/drawing/2014/main" id="{57D4D58C-1B49-4144-883B-A34AB13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9825"/>
            <a:ext cx="371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What employers value</a:t>
            </a:r>
          </a:p>
        </p:txBody>
      </p:sp>
      <p:sp>
        <p:nvSpPr>
          <p:cNvPr id="27" name="skills-intro">
            <a:extLst xmlns:a="http://schemas.openxmlformats.org/drawingml/2006/main">
              <a:ext uri="{FF2B5EF4-FFF2-40B4-BE49-F238E27FC236}">
                <a16:creationId xmlns:a16="http://schemas.microsoft.com/office/drawing/2014/main" id="{3A718170-1A2B-45ED-9607-375E3DA0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90825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Core programming still matters.</a:t>
            </a:r>
          </a:p>
        </p:txBody>
      </p:sp>
      <p:sp>
        <p:nvSpPr>
          <p:cNvPr id="28" name="skill-0">
            <a:extLst xmlns:a="http://schemas.openxmlformats.org/drawingml/2006/main">
              <a:ext uri="{FF2B5EF4-FFF2-40B4-BE49-F238E27FC236}">
                <a16:creationId xmlns:a16="http://schemas.microsoft.com/office/drawing/2014/main" id="{857E99FA-AB90-413D-9502-C21E2F57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3447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29" name="skill-rule-0">
            <a:extLst xmlns:a="http://schemas.openxmlformats.org/drawingml/2006/main">
              <a:ext uri="{FF2B5EF4-FFF2-40B4-BE49-F238E27FC236}">
                <a16:creationId xmlns:a16="http://schemas.microsoft.com/office/drawing/2014/main" id="{011BD20A-CA1F-4EF5-9330-AACF5E46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33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kill-1">
            <a:extLst xmlns:a="http://schemas.openxmlformats.org/drawingml/2006/main">
              <a:ext uri="{FF2B5EF4-FFF2-40B4-BE49-F238E27FC236}">
                <a16:creationId xmlns:a16="http://schemas.microsoft.com/office/drawing/2014/main" id="{13AB59EF-9944-43BC-9C60-33B0F882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3447"/>
                </a:solidFill>
                <a:latin typeface="Arial"/>
                <a:ea typeface="Arial"/>
                <a:cs typeface="Arial"/>
              </a:rPr>
              <a:t>Cloud platforms</a:t>
            </a:r>
          </a:p>
        </p:txBody>
      </p:sp>
      <p:sp>
        <p:nvSpPr>
          <p:cNvPr id="31" name="skill-rule-1">
            <a:extLst xmlns:a="http://schemas.openxmlformats.org/drawingml/2006/main">
              <a:ext uri="{FF2B5EF4-FFF2-40B4-BE49-F238E27FC236}">
                <a16:creationId xmlns:a16="http://schemas.microsoft.com/office/drawing/2014/main" id="{9D3ADFEE-E599-4800-850B-E9CAE5CB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kill-2">
            <a:extLst xmlns:a="http://schemas.openxmlformats.org/drawingml/2006/main">
              <a:ext uri="{FF2B5EF4-FFF2-40B4-BE49-F238E27FC236}">
                <a16:creationId xmlns:a16="http://schemas.microsoft.com/office/drawing/2014/main" id="{CC8E1FDC-7EF4-4979-9BE1-00D66D1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3447"/>
                </a:solidFill>
                <a:latin typeface="Arial"/>
                <a:ea typeface="Arial"/>
                <a:cs typeface="Arial"/>
              </a:rPr>
              <a:t>AI-related tools</a:t>
            </a:r>
          </a:p>
        </p:txBody>
      </p:sp>
      <p:sp>
        <p:nvSpPr>
          <p:cNvPr id="33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23143F2B-9A8A-44CC-9B70-9F9C6602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47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AI is changing the skill mix. The reports do not prove it caused weaker junior hiring.</a:t>
            </a:r>
          </a:p>
        </p:txBody>
      </p:sp>
      <p:sp>
        <p:nvSpPr>
          <p:cNvPr id="3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CDD0FFE-3C84-4991-B3E4-039243FD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ource-line">
            <a:extLst xmlns:a="http://schemas.openxmlformats.org/drawingml/2006/main">
              <a:ext uri="{FF2B5EF4-FFF2-40B4-BE49-F238E27FC236}">
                <a16:creationId xmlns:a16="http://schemas.microsoft.com/office/drawing/2014/main" id="{ED32DFBD-1BD9-439C-9765-390DA13B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4"/>
                </a:solidFill>
                <a:latin typeface="Arial"/>
                <a:ea typeface="Arial"/>
                <a:cs typeface="Arial"/>
              </a:rPr>
              <a:t>Sources: HackerRank, 2025 Developer Skills Report · LinkedIn Economic Graph, U.S. Software Engineer Talent Landscape (Feb. 2026)</a:t>
            </a:r>
          </a:p>
        </p:txBody>
      </p:sp>
      <p:sp>
        <p:nvSpPr>
          <p:cNvPr id="36" name="data-caveat">
            <a:extLst xmlns:a="http://schemas.openxmlformats.org/drawingml/2006/main">
              <a:ext uri="{FF2B5EF4-FFF2-40B4-BE49-F238E27FC236}">
                <a16:creationId xmlns:a16="http://schemas.microsoft.com/office/drawing/2014/main" id="{519962BD-C670-422E-9907-C44A57E2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HackerRank figures are hiring activity signals, not counts of all job openings.</a:t>
            </a:r>
          </a:p>
        </p:txBody>
      </p:sp>
    </p:spTree>
    <p:extLst>
      <p:ext uri="{BB962C8B-B14F-4D97-AF65-F5344CB8AC3E}">
        <p14:creationId xmlns:p14="http://schemas.microsoft.com/office/powerpoint/2010/main" val="302472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2026-10-20T20:54:17.3190000Z</dcterms:created>
  <dcterms:modified xsi:type="dcterms:W3CDTF">2026-10-20T20:54:17.3190000Z</dcterms:modified>
</coreProperties>
</file>