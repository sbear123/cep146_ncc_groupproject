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AI is changing software development, but coding skills still matter.</a:t>
            </a:r>
          </a:p>
          <a:p>
            <a:r>
              <a:t>HackerRank found hiring activity increased across experience levels, with stronger increases for lead and senior roles. The report describes hiring activity, not total job openings. The reports do not prove that AI caused fewer entry-level jobs. Students can prepare by practising coding, checking AI work, and learning new tools.</a:t>
            </a:r>
          </a:p>
          <a:p>
            <a:r>
              <a:t>Sources:</a:t>
            </a:r>
          </a:p>
          <a:p>
            <a:r>
              <a:t>HackerRank, 2025 Developer Skills Report — https://embed.hackerrank.com/reports/developer-skills-report-2025</a:t>
            </a:r>
          </a:p>
          <a:p>
            <a:r>
              <a:t>LinkedIn Economic Graph, U.S. Software Engineer Talent Landscape (February 2026) — https://economicgraph.linkedin.com/content/dam/me/economicgraph/en-us/PDF/us-software-engineer-talent-landscape-2026.pdf</a:t>
            </a:r>
          </a:p>
          <a:p>
            <a:r>
              <a:t>Indeed Hiring Lab, AI at Work Report 2025 — https://hiringlab.indeed.com/2025/09/23/ai-at-work-report-2025-how-genai-is-rewiring-the-dna-of-jobs/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87A83E4-5753-48D5-8E62-71F510F7DB9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698963FC-87E7-43E6-9AED-3358754F86A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FB117E4-ABF6-41E7-9866-25E9C4A8134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4E42A57-B649-48BF-A2DA-82FB743EA63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E200FFB9-376E-4810-AC3B-6C6D879BC55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4DEA045-E6EA-4F6C-AE70-5CA815E475E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DB86697-6623-4705-92BD-93F3AA4303F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2A341FA-8D27-4801-A10C-D6C104FA6FE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7CD22F0-82A8-455D-B80D-F44F06C714F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45DBD8A-BBBA-4902-8C26-7E0D182703B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B14"/>
        </a:solidFill>
        <a:effectLst/>
      </p:bgPr>
    </p:bg>
    <p:spTree>
      <p:nvGrpSpPr>
        <p:cNvPr id="1" name=""/>
        <p:cNvGrpSpPr/>
        <p:nvPr/>
      </p:nvGrpSpPr>
      <p:grpSpPr>
        <a:xfrm>
          <a:off x="0" y="0"/>
          <a:ext cx="0" cy="0"/>
          <a:chOff x="0" y="0"/>
          <a:chExt cx="0" cy="0"/>
        </a:xfrm>
      </p:grpSpPr>
      <p:sp>
        <p:nvSpPr>
          <p:cNvPr id="25" name="eyebrow">
            <a:extLst>
              <a:ext uri="{FF2B5EF4-FFF2-40B4-BE49-F238E27FC236}">
                <a16:creationId xmlns:a16="http://schemas.microsoft.com/office/drawing/2014/main" id="{6282AD7D-2331-432E-ACCB-6CE21E9A8C60}"/>
              </a:ext>
            </a:extLst>
          </p:cNvPr>
          <p:cNvSpPr>
            <a:spLocks noGrp="1"/>
          </p:cNvSpPr>
          <p:nvPr/>
        </p:nvSpPr>
        <p:spPr>
          <a:xfrm>
            <a:off x="666750" y="361950"/>
            <a:ext cx="2571750" cy="228600"/>
          </a:xfrm>
          <a:prstGeom prst="rect">
            <a:avLst/>
          </a:prstGeom>
          <a:noFill/>
          <a:ln w="0">
            <a:noFill/>
            <a:prstDash val="solid"/>
          </a:ln>
        </p:spPr>
        <p:txBody>
          <a:bodyPr wrap="square" lIns="0" tIns="0" rIns="0" bIns="0" anchor="ctr">
            <a:normAutofit/>
          </a:bodyPr>
          <a:lstStyle>
            <a:defPPr>
              <a:defRPr sz="1200" b="1">
                <a:solidFill>
                  <a:srgbClr val="91A8FF"/>
                </a:solidFill>
                <a:latin typeface="Arial"/>
                <a:ea typeface="Arial"/>
                <a:cs typeface="Arial"/>
              </a:defRPr>
            </a:defPPr>
          </a:lstStyle>
          <a:p>
            <a:pPr>
              <a:defRPr sz="1200" b="1">
                <a:solidFill>
                  <a:srgbClr val="91A8FF"/>
                </a:solidFill>
                <a:latin typeface="Arial"/>
                <a:ea typeface="Arial"/>
                <a:cs typeface="Arial"/>
              </a:defRPr>
            </a:pPr>
            <a:r>
              <a:rPr sz="1200" b="1">
                <a:solidFill>
                  <a:srgbClr val="91A8FF"/>
                </a:solidFill>
                <a:latin typeface="Arial"/>
                <a:ea typeface="Arial"/>
                <a:cs typeface="Arial"/>
              </a:rPr>
              <a:t>CEP146  /  PART E</a:t>
            </a:r>
          </a:p>
        </p:txBody>
      </p:sp>
      <p:sp>
        <p:nvSpPr>
          <p:cNvPr id="2" name="title">
            <a:extLst>
              <a:ext uri="{FF2B5EF4-FFF2-40B4-BE49-F238E27FC236}">
                <a16:creationId xmlns:a16="http://schemas.microsoft.com/office/drawing/2014/main" id="{36C6D2DD-13FB-4348-A5AA-08B522516B74}"/>
              </a:ext>
            </a:extLst>
          </p:cNvPr>
          <p:cNvSpPr>
            <a:spLocks noGrp="1"/>
          </p:cNvSpPr>
          <p:nvPr/>
        </p:nvSpPr>
        <p:spPr>
          <a:xfrm>
            <a:off x="666750" y="685800"/>
            <a:ext cx="10287000" cy="628650"/>
          </a:xfrm>
          <a:prstGeom prst="rect">
            <a:avLst/>
          </a:prstGeom>
          <a:noFill/>
          <a:ln w="0">
            <a:noFill/>
            <a:prstDash val="solid"/>
          </a:ln>
        </p:spPr>
        <p:txBody>
          <a:bodyPr wrap="square" lIns="0" tIns="0" rIns="0" bIns="0" anchor="ctr">
            <a:normAutofit/>
          </a:bodyPr>
          <a:lstStyle>
            <a:defPPr>
              <a:defRPr sz="3900" b="1">
                <a:solidFill>
                  <a:srgbClr val="F5F7FF"/>
                </a:solidFill>
                <a:latin typeface="Arial"/>
                <a:ea typeface="Arial"/>
                <a:cs typeface="Arial"/>
              </a:defRPr>
            </a:defPPr>
          </a:lstStyle>
          <a:p>
            <a:pPr>
              <a:defRPr sz="3900" b="1">
                <a:solidFill>
                  <a:srgbClr val="F5F7FF"/>
                </a:solidFill>
                <a:latin typeface="Arial"/>
                <a:ea typeface="Arial"/>
                <a:cs typeface="Arial"/>
              </a:defRPr>
            </a:pPr>
            <a:r>
              <a:rPr sz="3900" b="1">
                <a:solidFill>
                  <a:srgbClr val="F5F7FF"/>
                </a:solidFill>
                <a:latin typeface="Arial"/>
                <a:ea typeface="Arial"/>
                <a:cs typeface="Arial"/>
              </a:rPr>
              <a:t>Conclusion</a:t>
            </a:r>
          </a:p>
        </p:txBody>
      </p:sp>
      <p:sp>
        <p:nvSpPr>
          <p:cNvPr id="3" name="subtitle">
            <a:extLst>
              <a:ext uri="{FF2B5EF4-FFF2-40B4-BE49-F238E27FC236}">
                <a16:creationId xmlns:a16="http://schemas.microsoft.com/office/drawing/2014/main" id="{43387A57-D060-4630-A3F6-A4ED405AF1C2}"/>
              </a:ext>
            </a:extLst>
          </p:cNvPr>
          <p:cNvSpPr>
            <a:spLocks noGrp="1"/>
          </p:cNvSpPr>
          <p:nvPr/>
        </p:nvSpPr>
        <p:spPr>
          <a:xfrm>
            <a:off x="685800" y="1381125"/>
            <a:ext cx="10477500" cy="323850"/>
          </a:xfrm>
          <a:prstGeom prst="rect">
            <a:avLst/>
          </a:prstGeom>
          <a:noFill/>
          <a:ln w="0">
            <a:noFill/>
            <a:prstDash val="solid"/>
          </a:ln>
        </p:spPr>
        <p:txBody>
          <a:bodyPr wrap="square" lIns="0" tIns="0" rIns="0" bIns="0" anchor="ctr">
            <a:normAutofit/>
          </a:bodyPr>
          <a:lstStyle>
            <a:defPPr>
              <a:defRPr sz="1725">
                <a:solidFill>
                  <a:srgbClr val="B9C3D7"/>
                </a:solidFill>
                <a:latin typeface="Arial"/>
                <a:ea typeface="Arial"/>
                <a:cs typeface="Arial"/>
              </a:defRPr>
            </a:defPPr>
          </a:lstStyle>
          <a:p>
            <a:pPr>
              <a:defRPr sz="1725">
                <a:solidFill>
                  <a:srgbClr val="B9C3D7"/>
                </a:solidFill>
                <a:latin typeface="Arial"/>
                <a:ea typeface="Arial"/>
                <a:cs typeface="Arial"/>
              </a:defRPr>
            </a:pPr>
            <a:r>
              <a:rPr sz="1725">
                <a:solidFill>
                  <a:srgbClr val="B9C3D7"/>
                </a:solidFill>
                <a:latin typeface="Arial"/>
                <a:ea typeface="Arial"/>
                <a:cs typeface="Arial"/>
              </a:rPr>
              <a:t>AI is changing software development, but coding skills still matter.</a:t>
            </a:r>
          </a:p>
        </p:txBody>
      </p:sp>
      <p:sp>
        <p:nvSpPr>
          <p:cNvPr id="4" name="soft-neon-halo">
            <a:extLst>
              <a:ext uri="{FF2B5EF4-FFF2-40B4-BE49-F238E27FC236}">
                <a16:creationId xmlns:a16="http://schemas.microsoft.com/office/drawing/2014/main" id="{B2155192-18B4-41C9-B71F-584D7F75CB08}"/>
              </a:ext>
            </a:extLst>
          </p:cNvPr>
          <p:cNvSpPr>
            <a:spLocks noGrp="1"/>
          </p:cNvSpPr>
          <p:nvPr/>
        </p:nvSpPr>
        <p:spPr>
          <a:xfrm>
            <a:off x="533400" y="1924050"/>
            <a:ext cx="11125200" cy="190500"/>
          </a:xfrm>
          <a:prstGeom prst="rect">
            <a:avLst/>
          </a:prstGeom>
          <a:gradFill>
            <a:gsLst>
              <a:gs pos="0">
                <a:srgbClr val="1E63FF">
                  <a:alpha val="18000"/>
                </a:srgbClr>
              </a:gs>
              <a:gs pos="52000">
                <a:srgbClr val="3A55FF">
                  <a:alpha val="22000"/>
                </a:srgbClr>
              </a:gs>
              <a:gs pos="100000">
                <a:srgbClr val="B540FF">
                  <a:alpha val="20000"/>
                </a:srgbClr>
              </a:gs>
            </a:gsLst>
            <a:lin ang="0"/>
          </a:gradFill>
          <a:ln w="0">
            <a:noFill/>
            <a:prstDash val="solid"/>
          </a:ln>
        </p:spPr>
        <p:txBody>
          <a:bodyPr/>
          <a:lstStyle/>
          <a:p>
            <a:endParaRPr lang="en-US"/>
          </a:p>
        </p:txBody>
      </p:sp>
      <p:sp>
        <p:nvSpPr>
          <p:cNvPr id="5" name="neon-divider">
            <a:extLst>
              <a:ext uri="{FF2B5EF4-FFF2-40B4-BE49-F238E27FC236}">
                <a16:creationId xmlns:a16="http://schemas.microsoft.com/office/drawing/2014/main" id="{AD30D5F9-8F1C-4F4F-950F-8BF457191A49}"/>
              </a:ext>
            </a:extLst>
          </p:cNvPr>
          <p:cNvSpPr>
            <a:spLocks noGrp="1"/>
          </p:cNvSpPr>
          <p:nvPr/>
        </p:nvSpPr>
        <p:spPr>
          <a:xfrm>
            <a:off x="533400" y="1990725"/>
            <a:ext cx="11125200" cy="38100"/>
          </a:xfrm>
          <a:prstGeom prst="rect">
            <a:avLst/>
          </a:prstGeom>
          <a:gradFill>
            <a:gsLst>
              <a:gs pos="0">
                <a:srgbClr val="2D75FF"/>
              </a:gs>
              <a:gs pos="53000">
                <a:srgbClr val="5966FF"/>
              </a:gs>
              <a:gs pos="100000">
                <a:srgbClr val="D052FF"/>
              </a:gs>
            </a:gsLst>
            <a:lin ang="0"/>
          </a:gradFill>
          <a:ln w="0">
            <a:noFill/>
            <a:prstDash val="solid"/>
          </a:ln>
        </p:spPr>
        <p:txBody>
          <a:bodyPr/>
          <a:lstStyle/>
          <a:p>
            <a:endParaRPr lang="en-US"/>
          </a:p>
        </p:txBody>
      </p:sp>
      <p:sp>
        <p:nvSpPr>
          <p:cNvPr id="6" name="hiring-panel">
            <a:extLst>
              <a:ext uri="{FF2B5EF4-FFF2-40B4-BE49-F238E27FC236}">
                <a16:creationId xmlns:a16="http://schemas.microsoft.com/office/drawing/2014/main" id="{A47A835D-8EFA-48AC-919C-B86E2880412B}"/>
              </a:ext>
            </a:extLst>
          </p:cNvPr>
          <p:cNvSpPr>
            <a:spLocks noGrp="1"/>
          </p:cNvSpPr>
          <p:nvPr/>
        </p:nvSpPr>
        <p:spPr>
          <a:xfrm>
            <a:off x="666750" y="2428875"/>
            <a:ext cx="5048250" cy="2857500"/>
          </a:xfrm>
          <a:prstGeom prst="rect">
            <a:avLst/>
          </a:prstGeom>
          <a:solidFill>
            <a:srgbClr val="101727"/>
          </a:solidFill>
          <a:ln w="9525">
            <a:solidFill>
              <a:srgbClr val="27334A"/>
            </a:solidFill>
            <a:prstDash val="solid"/>
          </a:ln>
        </p:spPr>
        <p:txBody>
          <a:bodyPr/>
          <a:lstStyle/>
          <a:p>
            <a:endParaRPr lang="en-US"/>
          </a:p>
        </p:txBody>
      </p:sp>
      <p:sp>
        <p:nvSpPr>
          <p:cNvPr id="7" name="preparation-panel">
            <a:extLst>
              <a:ext uri="{FF2B5EF4-FFF2-40B4-BE49-F238E27FC236}">
                <a16:creationId xmlns:a16="http://schemas.microsoft.com/office/drawing/2014/main" id="{6BE4F9B8-1103-4646-BC34-60C7766B3EE9}"/>
              </a:ext>
            </a:extLst>
          </p:cNvPr>
          <p:cNvSpPr>
            <a:spLocks noGrp="1"/>
          </p:cNvSpPr>
          <p:nvPr/>
        </p:nvSpPr>
        <p:spPr>
          <a:xfrm>
            <a:off x="5981700" y="2428875"/>
            <a:ext cx="5543550" cy="2857500"/>
          </a:xfrm>
          <a:prstGeom prst="rect">
            <a:avLst/>
          </a:prstGeom>
          <a:solidFill>
            <a:srgbClr val="101727"/>
          </a:solidFill>
          <a:ln w="9525">
            <a:solidFill>
              <a:srgbClr val="27334A"/>
            </a:solidFill>
            <a:prstDash val="solid"/>
          </a:ln>
        </p:spPr>
        <p:txBody>
          <a:bodyPr/>
          <a:lstStyle/>
          <a:p>
            <a:endParaRPr lang="en-US"/>
          </a:p>
        </p:txBody>
      </p:sp>
      <p:sp>
        <p:nvSpPr>
          <p:cNvPr id="8" name="hiring-heading">
            <a:extLst>
              <a:ext uri="{FF2B5EF4-FFF2-40B4-BE49-F238E27FC236}">
                <a16:creationId xmlns:a16="http://schemas.microsoft.com/office/drawing/2014/main" id="{3E1A4CA1-F818-48A1-AA00-F6D44CADCA02}"/>
              </a:ext>
            </a:extLst>
          </p:cNvPr>
          <p:cNvSpPr>
            <a:spLocks noGrp="1"/>
          </p:cNvSpPr>
          <p:nvPr/>
        </p:nvSpPr>
        <p:spPr>
          <a:xfrm>
            <a:off x="914400" y="2647950"/>
            <a:ext cx="4572000" cy="266700"/>
          </a:xfrm>
          <a:prstGeom prst="rect">
            <a:avLst/>
          </a:prstGeom>
          <a:noFill/>
          <a:ln w="0">
            <a:noFill/>
            <a:prstDash val="solid"/>
          </a:ln>
        </p:spPr>
        <p:txBody>
          <a:bodyPr wrap="square" lIns="0" tIns="0" rIns="0" bIns="0" anchor="ctr">
            <a:normAutofit/>
          </a:bodyPr>
          <a:lstStyle>
            <a:defPPr>
              <a:defRPr sz="1275" b="1">
                <a:solidFill>
                  <a:srgbClr val="7FB7FF"/>
                </a:solidFill>
                <a:latin typeface="Arial"/>
                <a:ea typeface="Arial"/>
                <a:cs typeface="Arial"/>
              </a:defRPr>
            </a:defPPr>
          </a:lstStyle>
          <a:p>
            <a:pPr>
              <a:defRPr sz="1275" b="1">
                <a:solidFill>
                  <a:srgbClr val="7FB7FF"/>
                </a:solidFill>
                <a:latin typeface="Arial"/>
                <a:ea typeface="Arial"/>
                <a:cs typeface="Arial"/>
              </a:defRPr>
            </a:pPr>
            <a:r>
              <a:rPr sz="1275" b="1">
                <a:solidFill>
                  <a:srgbClr val="7FB7FF"/>
                </a:solidFill>
                <a:latin typeface="Arial"/>
                <a:ea typeface="Arial"/>
                <a:cs typeface="Arial"/>
              </a:rPr>
              <a:t>What the reports show</a:t>
            </a:r>
          </a:p>
        </p:txBody>
      </p:sp>
      <p:sp>
        <p:nvSpPr>
          <p:cNvPr id="9" name="finding-number-0">
            <a:extLst>
              <a:ext uri="{FF2B5EF4-FFF2-40B4-BE49-F238E27FC236}">
                <a16:creationId xmlns:a16="http://schemas.microsoft.com/office/drawing/2014/main" id="{32653F27-F494-4A48-B9DD-029AC7FB9769}"/>
              </a:ext>
            </a:extLst>
          </p:cNvPr>
          <p:cNvSpPr>
            <a:spLocks noGrp="1"/>
          </p:cNvSpPr>
          <p:nvPr/>
        </p:nvSpPr>
        <p:spPr>
          <a:xfrm>
            <a:off x="933450" y="3124200"/>
            <a:ext cx="381000" cy="304800"/>
          </a:xfrm>
          <a:prstGeom prst="rect">
            <a:avLst/>
          </a:prstGeom>
          <a:noFill/>
          <a:ln w="0">
            <a:noFill/>
            <a:prstDash val="solid"/>
          </a:ln>
        </p:spPr>
        <p:txBody>
          <a:bodyPr wrap="square" lIns="0" tIns="0" rIns="0" bIns="0" anchor="ctr">
            <a:normAutofit/>
          </a:bodyPr>
          <a:lstStyle>
            <a:defPPr>
              <a:defRPr sz="1350" b="1">
                <a:solidFill>
                  <a:srgbClr val="7FB7FF"/>
                </a:solidFill>
                <a:latin typeface="Arial"/>
                <a:ea typeface="Arial"/>
                <a:cs typeface="Arial"/>
              </a:defRPr>
            </a:defPPr>
          </a:lstStyle>
          <a:p>
            <a:pPr>
              <a:defRPr sz="1350" b="1">
                <a:solidFill>
                  <a:srgbClr val="7FB7FF"/>
                </a:solidFill>
                <a:latin typeface="Arial"/>
                <a:ea typeface="Arial"/>
                <a:cs typeface="Arial"/>
              </a:defRPr>
            </a:pPr>
            <a:r>
              <a:rPr sz="1350" b="1">
                <a:solidFill>
                  <a:srgbClr val="7FB7FF"/>
                </a:solidFill>
                <a:latin typeface="Arial"/>
                <a:ea typeface="Arial"/>
                <a:cs typeface="Arial"/>
              </a:rPr>
              <a:t>01</a:t>
            </a:r>
          </a:p>
        </p:txBody>
      </p:sp>
      <p:sp>
        <p:nvSpPr>
          <p:cNvPr id="10" name="finding-0">
            <a:extLst>
              <a:ext uri="{FF2B5EF4-FFF2-40B4-BE49-F238E27FC236}">
                <a16:creationId xmlns:a16="http://schemas.microsoft.com/office/drawing/2014/main" id="{CBE1F38A-8D25-4F87-B293-B619C085F97C}"/>
              </a:ext>
            </a:extLst>
          </p:cNvPr>
          <p:cNvSpPr>
            <a:spLocks noGrp="1"/>
          </p:cNvSpPr>
          <p:nvPr/>
        </p:nvSpPr>
        <p:spPr>
          <a:xfrm>
            <a:off x="1409700" y="3105150"/>
            <a:ext cx="3943350" cy="438150"/>
          </a:xfrm>
          <a:prstGeom prst="rect">
            <a:avLst/>
          </a:prstGeom>
          <a:noFill/>
          <a:ln w="0">
            <a:noFill/>
            <a:prstDash val="solid"/>
          </a:ln>
        </p:spPr>
        <p:txBody>
          <a:bodyPr wrap="square" lIns="0" tIns="0" rIns="0" bIns="0" anchor="ctr">
            <a:normAutofit/>
          </a:bodyPr>
          <a:lstStyle>
            <a:defPPr>
              <a:defRPr sz="1350">
                <a:solidFill>
                  <a:srgbClr val="E5EAF5"/>
                </a:solidFill>
                <a:latin typeface="Arial"/>
                <a:ea typeface="Arial"/>
                <a:cs typeface="Arial"/>
              </a:defRPr>
            </a:defPPr>
          </a:lstStyle>
          <a:p>
            <a:pPr>
              <a:defRPr sz="1350">
                <a:solidFill>
                  <a:srgbClr val="E5EAF5"/>
                </a:solidFill>
                <a:latin typeface="Arial"/>
                <a:ea typeface="Arial"/>
                <a:cs typeface="Arial"/>
              </a:defRPr>
            </a:pPr>
            <a:r>
              <a:rPr sz="1350">
                <a:solidFill>
                  <a:srgbClr val="E5EAF5"/>
                </a:solidFill>
                <a:latin typeface="Arial"/>
                <a:ea typeface="Arial"/>
                <a:cs typeface="Arial"/>
              </a:rPr>
              <a:t>Employers still value programming skills.</a:t>
            </a:r>
          </a:p>
        </p:txBody>
      </p:sp>
      <p:sp>
        <p:nvSpPr>
          <p:cNvPr id="11" name="finding-number-1">
            <a:extLst>
              <a:ext uri="{FF2B5EF4-FFF2-40B4-BE49-F238E27FC236}">
                <a16:creationId xmlns:a16="http://schemas.microsoft.com/office/drawing/2014/main" id="{192A56ED-AE66-4399-81B9-44026386E19D}"/>
              </a:ext>
            </a:extLst>
          </p:cNvPr>
          <p:cNvSpPr>
            <a:spLocks noGrp="1"/>
          </p:cNvSpPr>
          <p:nvPr/>
        </p:nvSpPr>
        <p:spPr>
          <a:xfrm>
            <a:off x="933450" y="3676650"/>
            <a:ext cx="381000" cy="304800"/>
          </a:xfrm>
          <a:prstGeom prst="rect">
            <a:avLst/>
          </a:prstGeom>
          <a:noFill/>
          <a:ln w="0">
            <a:noFill/>
            <a:prstDash val="solid"/>
          </a:ln>
        </p:spPr>
        <p:txBody>
          <a:bodyPr wrap="square" lIns="0" tIns="0" rIns="0" bIns="0" anchor="ctr">
            <a:normAutofit/>
          </a:bodyPr>
          <a:lstStyle>
            <a:defPPr>
              <a:defRPr sz="1350" b="1">
                <a:solidFill>
                  <a:srgbClr val="7FB7FF"/>
                </a:solidFill>
                <a:latin typeface="Arial"/>
                <a:ea typeface="Arial"/>
                <a:cs typeface="Arial"/>
              </a:defRPr>
            </a:defPPr>
          </a:lstStyle>
          <a:p>
            <a:pPr>
              <a:defRPr sz="1350" b="1">
                <a:solidFill>
                  <a:srgbClr val="7FB7FF"/>
                </a:solidFill>
                <a:latin typeface="Arial"/>
                <a:ea typeface="Arial"/>
                <a:cs typeface="Arial"/>
              </a:defRPr>
            </a:pPr>
            <a:r>
              <a:rPr sz="1350" b="1">
                <a:solidFill>
                  <a:srgbClr val="7FB7FF"/>
                </a:solidFill>
                <a:latin typeface="Arial"/>
                <a:ea typeface="Arial"/>
                <a:cs typeface="Arial"/>
              </a:rPr>
              <a:t>02</a:t>
            </a:r>
          </a:p>
        </p:txBody>
      </p:sp>
      <p:sp>
        <p:nvSpPr>
          <p:cNvPr id="12" name="finding-1">
            <a:extLst>
              <a:ext uri="{FF2B5EF4-FFF2-40B4-BE49-F238E27FC236}">
                <a16:creationId xmlns:a16="http://schemas.microsoft.com/office/drawing/2014/main" id="{C13BE3E9-E863-4780-BA60-D0B21BC9BFCE}"/>
              </a:ext>
            </a:extLst>
          </p:cNvPr>
          <p:cNvSpPr>
            <a:spLocks noGrp="1"/>
          </p:cNvSpPr>
          <p:nvPr/>
        </p:nvSpPr>
        <p:spPr>
          <a:xfrm>
            <a:off x="1409700" y="3657600"/>
            <a:ext cx="3943350" cy="438150"/>
          </a:xfrm>
          <a:prstGeom prst="rect">
            <a:avLst/>
          </a:prstGeom>
          <a:noFill/>
          <a:ln w="0">
            <a:noFill/>
            <a:prstDash val="solid"/>
          </a:ln>
        </p:spPr>
        <p:txBody>
          <a:bodyPr wrap="square" lIns="0" tIns="0" rIns="0" bIns="0" anchor="ctr">
            <a:normAutofit/>
          </a:bodyPr>
          <a:lstStyle>
            <a:defPPr>
              <a:defRPr sz="1350">
                <a:solidFill>
                  <a:srgbClr val="E5EAF5"/>
                </a:solidFill>
                <a:latin typeface="Arial"/>
                <a:ea typeface="Arial"/>
                <a:cs typeface="Arial"/>
              </a:defRPr>
            </a:defPPr>
          </a:lstStyle>
          <a:p>
            <a:pPr>
              <a:defRPr sz="1350">
                <a:solidFill>
                  <a:srgbClr val="E5EAF5"/>
                </a:solidFill>
                <a:latin typeface="Arial"/>
                <a:ea typeface="Arial"/>
                <a:cs typeface="Arial"/>
              </a:defRPr>
            </a:pPr>
            <a:r>
              <a:rPr sz="1350">
                <a:solidFill>
                  <a:srgbClr val="E5EAF5"/>
                </a:solidFill>
                <a:latin typeface="Arial"/>
                <a:ea typeface="Arial"/>
                <a:cs typeface="Arial"/>
              </a:rPr>
              <a:t>Hiring activity rose across experience levels.</a:t>
            </a:r>
          </a:p>
        </p:txBody>
      </p:sp>
      <p:sp>
        <p:nvSpPr>
          <p:cNvPr id="13" name="finding-number-2">
            <a:extLst>
              <a:ext uri="{FF2B5EF4-FFF2-40B4-BE49-F238E27FC236}">
                <a16:creationId xmlns:a16="http://schemas.microsoft.com/office/drawing/2014/main" id="{849800F0-52BF-4A3E-AFCE-DFA3946479F2}"/>
              </a:ext>
            </a:extLst>
          </p:cNvPr>
          <p:cNvSpPr>
            <a:spLocks noGrp="1"/>
          </p:cNvSpPr>
          <p:nvPr/>
        </p:nvSpPr>
        <p:spPr>
          <a:xfrm>
            <a:off x="933450" y="4229100"/>
            <a:ext cx="381000" cy="304800"/>
          </a:xfrm>
          <a:prstGeom prst="rect">
            <a:avLst/>
          </a:prstGeom>
          <a:noFill/>
          <a:ln w="0">
            <a:noFill/>
            <a:prstDash val="solid"/>
          </a:ln>
        </p:spPr>
        <p:txBody>
          <a:bodyPr wrap="square" lIns="0" tIns="0" rIns="0" bIns="0" anchor="ctr">
            <a:normAutofit/>
          </a:bodyPr>
          <a:lstStyle>
            <a:defPPr>
              <a:defRPr sz="1350" b="1">
                <a:solidFill>
                  <a:srgbClr val="7FB7FF"/>
                </a:solidFill>
                <a:latin typeface="Arial"/>
                <a:ea typeface="Arial"/>
                <a:cs typeface="Arial"/>
              </a:defRPr>
            </a:defPPr>
          </a:lstStyle>
          <a:p>
            <a:pPr>
              <a:defRPr sz="1350" b="1">
                <a:solidFill>
                  <a:srgbClr val="7FB7FF"/>
                </a:solidFill>
                <a:latin typeface="Arial"/>
                <a:ea typeface="Arial"/>
                <a:cs typeface="Arial"/>
              </a:defRPr>
            </a:pPr>
            <a:r>
              <a:rPr sz="1350" b="1">
                <a:solidFill>
                  <a:srgbClr val="7FB7FF"/>
                </a:solidFill>
                <a:latin typeface="Arial"/>
                <a:ea typeface="Arial"/>
                <a:cs typeface="Arial"/>
              </a:rPr>
              <a:t>03</a:t>
            </a:r>
          </a:p>
        </p:txBody>
      </p:sp>
      <p:sp>
        <p:nvSpPr>
          <p:cNvPr id="14" name="finding-2">
            <a:extLst>
              <a:ext uri="{FF2B5EF4-FFF2-40B4-BE49-F238E27FC236}">
                <a16:creationId xmlns:a16="http://schemas.microsoft.com/office/drawing/2014/main" id="{EA99EDB6-236D-4848-9665-6B5F3F10A576}"/>
              </a:ext>
            </a:extLst>
          </p:cNvPr>
          <p:cNvSpPr>
            <a:spLocks noGrp="1"/>
          </p:cNvSpPr>
          <p:nvPr/>
        </p:nvSpPr>
        <p:spPr>
          <a:xfrm>
            <a:off x="1409700" y="4210050"/>
            <a:ext cx="3943350" cy="438150"/>
          </a:xfrm>
          <a:prstGeom prst="rect">
            <a:avLst/>
          </a:prstGeom>
          <a:noFill/>
          <a:ln w="0">
            <a:noFill/>
            <a:prstDash val="solid"/>
          </a:ln>
        </p:spPr>
        <p:txBody>
          <a:bodyPr wrap="square" lIns="0" tIns="0" rIns="0" bIns="0" anchor="ctr">
            <a:normAutofit/>
          </a:bodyPr>
          <a:lstStyle>
            <a:defPPr>
              <a:defRPr sz="1350">
                <a:solidFill>
                  <a:srgbClr val="E5EAF5"/>
                </a:solidFill>
                <a:latin typeface="Arial"/>
                <a:ea typeface="Arial"/>
                <a:cs typeface="Arial"/>
              </a:defRPr>
            </a:defPPr>
          </a:lstStyle>
          <a:p>
            <a:pPr>
              <a:defRPr sz="1350">
                <a:solidFill>
                  <a:srgbClr val="E5EAF5"/>
                </a:solidFill>
                <a:latin typeface="Arial"/>
                <a:ea typeface="Arial"/>
                <a:cs typeface="Arial"/>
              </a:defRPr>
            </a:pPr>
            <a:r>
              <a:rPr sz="1350">
                <a:solidFill>
                  <a:srgbClr val="E5EAF5"/>
                </a:solidFill>
                <a:latin typeface="Arial"/>
                <a:ea typeface="Arial"/>
                <a:cs typeface="Arial"/>
              </a:rPr>
              <a:t>Lead and senior roles saw more growth.</a:t>
            </a:r>
          </a:p>
        </p:txBody>
      </p:sp>
      <p:sp>
        <p:nvSpPr>
          <p:cNvPr id="15" name="prepare-heading">
            <a:extLst>
              <a:ext uri="{FF2B5EF4-FFF2-40B4-BE49-F238E27FC236}">
                <a16:creationId xmlns:a16="http://schemas.microsoft.com/office/drawing/2014/main" id="{E52442AE-7FB7-4B6B-8B19-F05D2C9FCEEF}"/>
              </a:ext>
            </a:extLst>
          </p:cNvPr>
          <p:cNvSpPr>
            <a:spLocks noGrp="1"/>
          </p:cNvSpPr>
          <p:nvPr/>
        </p:nvSpPr>
        <p:spPr>
          <a:xfrm>
            <a:off x="6248400" y="2647950"/>
            <a:ext cx="4762500" cy="266700"/>
          </a:xfrm>
          <a:prstGeom prst="rect">
            <a:avLst/>
          </a:prstGeom>
          <a:noFill/>
          <a:ln w="0">
            <a:noFill/>
            <a:prstDash val="solid"/>
          </a:ln>
        </p:spPr>
        <p:txBody>
          <a:bodyPr wrap="square" lIns="0" tIns="0" rIns="0" bIns="0" anchor="ctr">
            <a:normAutofit/>
          </a:bodyPr>
          <a:lstStyle>
            <a:defPPr>
              <a:defRPr sz="1275" b="1">
                <a:solidFill>
                  <a:srgbClr val="D090FF"/>
                </a:solidFill>
                <a:latin typeface="Arial"/>
                <a:ea typeface="Arial"/>
                <a:cs typeface="Arial"/>
              </a:defRPr>
            </a:defPPr>
          </a:lstStyle>
          <a:p>
            <a:pPr>
              <a:defRPr sz="1275" b="1">
                <a:solidFill>
                  <a:srgbClr val="D090FF"/>
                </a:solidFill>
                <a:latin typeface="Arial"/>
                <a:ea typeface="Arial"/>
                <a:cs typeface="Arial"/>
              </a:defRPr>
            </a:pPr>
            <a:r>
              <a:rPr sz="1275" b="1">
                <a:solidFill>
                  <a:srgbClr val="D090FF"/>
                </a:solidFill>
                <a:latin typeface="Arial"/>
                <a:ea typeface="Arial"/>
                <a:cs typeface="Arial"/>
              </a:rPr>
              <a:t>What students can do</a:t>
            </a:r>
          </a:p>
        </p:txBody>
      </p:sp>
      <p:sp>
        <p:nvSpPr>
          <p:cNvPr id="16" name="tip-number-0">
            <a:extLst>
              <a:ext uri="{FF2B5EF4-FFF2-40B4-BE49-F238E27FC236}">
                <a16:creationId xmlns:a16="http://schemas.microsoft.com/office/drawing/2014/main" id="{F8F6EB64-1AA7-4BAE-A42E-1D3D761C956C}"/>
              </a:ext>
            </a:extLst>
          </p:cNvPr>
          <p:cNvSpPr>
            <a:spLocks noGrp="1"/>
          </p:cNvSpPr>
          <p:nvPr/>
        </p:nvSpPr>
        <p:spPr>
          <a:xfrm>
            <a:off x="6286500" y="3209925"/>
            <a:ext cx="457200" cy="323850"/>
          </a:xfrm>
          <a:prstGeom prst="rect">
            <a:avLst/>
          </a:prstGeom>
          <a:noFill/>
          <a:ln w="0">
            <a:noFill/>
            <a:prstDash val="solid"/>
          </a:ln>
        </p:spPr>
        <p:txBody>
          <a:bodyPr wrap="square" lIns="0" tIns="0" rIns="0" bIns="0" anchor="ctr">
            <a:normAutofit/>
          </a:bodyPr>
          <a:lstStyle>
            <a:defPPr>
              <a:defRPr sz="1500" b="1">
                <a:solidFill>
                  <a:srgbClr val="7FB7FF"/>
                </a:solidFill>
                <a:latin typeface="Arial"/>
                <a:ea typeface="Arial"/>
                <a:cs typeface="Arial"/>
              </a:defRPr>
            </a:defPPr>
          </a:lstStyle>
          <a:p>
            <a:pPr>
              <a:defRPr sz="1500" b="1">
                <a:solidFill>
                  <a:srgbClr val="7FB7FF"/>
                </a:solidFill>
                <a:latin typeface="Arial"/>
                <a:ea typeface="Arial"/>
                <a:cs typeface="Arial"/>
              </a:defRPr>
            </a:pPr>
            <a:r>
              <a:rPr sz="1500" b="1">
                <a:solidFill>
                  <a:srgbClr val="7FB7FF"/>
                </a:solidFill>
                <a:latin typeface="Arial"/>
                <a:ea typeface="Arial"/>
                <a:cs typeface="Arial"/>
              </a:rPr>
              <a:t>01</a:t>
            </a:r>
          </a:p>
        </p:txBody>
      </p:sp>
      <p:sp>
        <p:nvSpPr>
          <p:cNvPr id="17" name="tip-0">
            <a:extLst>
              <a:ext uri="{FF2B5EF4-FFF2-40B4-BE49-F238E27FC236}">
                <a16:creationId xmlns:a16="http://schemas.microsoft.com/office/drawing/2014/main" id="{EC6E9DBE-1B0C-4237-B19A-DF7FF9CFC370}"/>
              </a:ext>
            </a:extLst>
          </p:cNvPr>
          <p:cNvSpPr>
            <a:spLocks noGrp="1"/>
          </p:cNvSpPr>
          <p:nvPr/>
        </p:nvSpPr>
        <p:spPr>
          <a:xfrm>
            <a:off x="6858000" y="3209925"/>
            <a:ext cx="4152900" cy="361950"/>
          </a:xfrm>
          <a:prstGeom prst="rect">
            <a:avLst/>
          </a:prstGeom>
          <a:noFill/>
          <a:ln w="0">
            <a:noFill/>
            <a:prstDash val="solid"/>
          </a:ln>
        </p:spPr>
        <p:txBody>
          <a:bodyPr wrap="square" lIns="0" tIns="0" rIns="0" bIns="0" anchor="ctr">
            <a:normAutofit/>
          </a:bodyPr>
          <a:lstStyle>
            <a:defPPr>
              <a:defRPr sz="1575" b="1">
                <a:solidFill>
                  <a:srgbClr val="F1F4FC"/>
                </a:solidFill>
                <a:latin typeface="Arial"/>
                <a:ea typeface="Arial"/>
                <a:cs typeface="Arial"/>
              </a:defRPr>
            </a:defPPr>
          </a:lstStyle>
          <a:p>
            <a:pPr>
              <a:defRPr sz="1575" b="1">
                <a:solidFill>
                  <a:srgbClr val="F1F4FC"/>
                </a:solidFill>
                <a:latin typeface="Arial"/>
                <a:ea typeface="Arial"/>
                <a:cs typeface="Arial"/>
              </a:defRPr>
            </a:pPr>
            <a:r>
              <a:rPr sz="1575" b="1">
                <a:solidFill>
                  <a:srgbClr val="F1F4FC"/>
                </a:solidFill>
                <a:latin typeface="Arial"/>
                <a:ea typeface="Arial"/>
                <a:cs typeface="Arial"/>
              </a:rPr>
              <a:t>Practise coding</a:t>
            </a:r>
          </a:p>
        </p:txBody>
      </p:sp>
      <p:sp>
        <p:nvSpPr>
          <p:cNvPr id="18" name="tip-number-1">
            <a:extLst>
              <a:ext uri="{FF2B5EF4-FFF2-40B4-BE49-F238E27FC236}">
                <a16:creationId xmlns:a16="http://schemas.microsoft.com/office/drawing/2014/main" id="{6019F9B4-CD1D-493C-83C2-C549A0DFDD7B}"/>
              </a:ext>
            </a:extLst>
          </p:cNvPr>
          <p:cNvSpPr>
            <a:spLocks noGrp="1"/>
          </p:cNvSpPr>
          <p:nvPr/>
        </p:nvSpPr>
        <p:spPr>
          <a:xfrm>
            <a:off x="6286500" y="3857625"/>
            <a:ext cx="457200" cy="323850"/>
          </a:xfrm>
          <a:prstGeom prst="rect">
            <a:avLst/>
          </a:prstGeom>
          <a:noFill/>
          <a:ln w="0">
            <a:noFill/>
            <a:prstDash val="solid"/>
          </a:ln>
        </p:spPr>
        <p:txBody>
          <a:bodyPr wrap="square" lIns="0" tIns="0" rIns="0" bIns="0" anchor="ctr">
            <a:normAutofit/>
          </a:bodyPr>
          <a:lstStyle>
            <a:defPPr>
              <a:defRPr sz="1500" b="1">
                <a:solidFill>
                  <a:srgbClr val="7FB7FF"/>
                </a:solidFill>
                <a:latin typeface="Arial"/>
                <a:ea typeface="Arial"/>
                <a:cs typeface="Arial"/>
              </a:defRPr>
            </a:defPPr>
          </a:lstStyle>
          <a:p>
            <a:pPr>
              <a:defRPr sz="1500" b="1">
                <a:solidFill>
                  <a:srgbClr val="7FB7FF"/>
                </a:solidFill>
                <a:latin typeface="Arial"/>
                <a:ea typeface="Arial"/>
                <a:cs typeface="Arial"/>
              </a:defRPr>
            </a:pPr>
            <a:r>
              <a:rPr sz="1500" b="1">
                <a:solidFill>
                  <a:srgbClr val="7FB7FF"/>
                </a:solidFill>
                <a:latin typeface="Arial"/>
                <a:ea typeface="Arial"/>
                <a:cs typeface="Arial"/>
              </a:rPr>
              <a:t>02</a:t>
            </a:r>
          </a:p>
        </p:txBody>
      </p:sp>
      <p:sp>
        <p:nvSpPr>
          <p:cNvPr id="19" name="tip-1">
            <a:extLst>
              <a:ext uri="{FF2B5EF4-FFF2-40B4-BE49-F238E27FC236}">
                <a16:creationId xmlns:a16="http://schemas.microsoft.com/office/drawing/2014/main" id="{1EDDED7B-A8F4-4B9A-A13F-8112BD9F1F96}"/>
              </a:ext>
            </a:extLst>
          </p:cNvPr>
          <p:cNvSpPr>
            <a:spLocks noGrp="1"/>
          </p:cNvSpPr>
          <p:nvPr/>
        </p:nvSpPr>
        <p:spPr>
          <a:xfrm>
            <a:off x="6858000" y="3857625"/>
            <a:ext cx="4152900" cy="361950"/>
          </a:xfrm>
          <a:prstGeom prst="rect">
            <a:avLst/>
          </a:prstGeom>
          <a:noFill/>
          <a:ln w="0">
            <a:noFill/>
            <a:prstDash val="solid"/>
          </a:ln>
        </p:spPr>
        <p:txBody>
          <a:bodyPr wrap="square" lIns="0" tIns="0" rIns="0" bIns="0" anchor="ctr">
            <a:normAutofit/>
          </a:bodyPr>
          <a:lstStyle>
            <a:defPPr>
              <a:defRPr sz="1575" b="1">
                <a:solidFill>
                  <a:srgbClr val="F1F4FC"/>
                </a:solidFill>
                <a:latin typeface="Arial"/>
                <a:ea typeface="Arial"/>
                <a:cs typeface="Arial"/>
              </a:defRPr>
            </a:defPPr>
          </a:lstStyle>
          <a:p>
            <a:pPr>
              <a:defRPr sz="1575" b="1">
                <a:solidFill>
                  <a:srgbClr val="F1F4FC"/>
                </a:solidFill>
                <a:latin typeface="Arial"/>
                <a:ea typeface="Arial"/>
                <a:cs typeface="Arial"/>
              </a:defRPr>
            </a:pPr>
            <a:r>
              <a:rPr sz="1575" b="1">
                <a:solidFill>
                  <a:srgbClr val="F1F4FC"/>
                </a:solidFill>
                <a:latin typeface="Arial"/>
                <a:ea typeface="Arial"/>
                <a:cs typeface="Arial"/>
              </a:rPr>
              <a:t>Use AI to help, then check its work</a:t>
            </a:r>
          </a:p>
        </p:txBody>
      </p:sp>
      <p:sp>
        <p:nvSpPr>
          <p:cNvPr id="20" name="tip-number-2">
            <a:extLst>
              <a:ext uri="{FF2B5EF4-FFF2-40B4-BE49-F238E27FC236}">
                <a16:creationId xmlns:a16="http://schemas.microsoft.com/office/drawing/2014/main" id="{D303D754-6AAC-4EC0-A58D-7B796131D14B}"/>
              </a:ext>
            </a:extLst>
          </p:cNvPr>
          <p:cNvSpPr>
            <a:spLocks noGrp="1"/>
          </p:cNvSpPr>
          <p:nvPr/>
        </p:nvSpPr>
        <p:spPr>
          <a:xfrm>
            <a:off x="6286500" y="4505325"/>
            <a:ext cx="457200" cy="323850"/>
          </a:xfrm>
          <a:prstGeom prst="rect">
            <a:avLst/>
          </a:prstGeom>
          <a:noFill/>
          <a:ln w="0">
            <a:noFill/>
            <a:prstDash val="solid"/>
          </a:ln>
        </p:spPr>
        <p:txBody>
          <a:bodyPr wrap="square" lIns="0" tIns="0" rIns="0" bIns="0" anchor="ctr">
            <a:normAutofit/>
          </a:bodyPr>
          <a:lstStyle>
            <a:defPPr>
              <a:defRPr sz="1500" b="1">
                <a:solidFill>
                  <a:srgbClr val="CE83FF"/>
                </a:solidFill>
                <a:latin typeface="Arial"/>
                <a:ea typeface="Arial"/>
                <a:cs typeface="Arial"/>
              </a:defRPr>
            </a:defPPr>
          </a:lstStyle>
          <a:p>
            <a:pPr>
              <a:defRPr sz="1500" b="1">
                <a:solidFill>
                  <a:srgbClr val="CE83FF"/>
                </a:solidFill>
                <a:latin typeface="Arial"/>
                <a:ea typeface="Arial"/>
                <a:cs typeface="Arial"/>
              </a:defRPr>
            </a:pPr>
            <a:r>
              <a:rPr sz="1500" b="1">
                <a:solidFill>
                  <a:srgbClr val="CE83FF"/>
                </a:solidFill>
                <a:latin typeface="Arial"/>
                <a:ea typeface="Arial"/>
                <a:cs typeface="Arial"/>
              </a:rPr>
              <a:t>03</a:t>
            </a:r>
          </a:p>
        </p:txBody>
      </p:sp>
      <p:sp>
        <p:nvSpPr>
          <p:cNvPr id="21" name="tip-2">
            <a:extLst>
              <a:ext uri="{FF2B5EF4-FFF2-40B4-BE49-F238E27FC236}">
                <a16:creationId xmlns:a16="http://schemas.microsoft.com/office/drawing/2014/main" id="{0654679E-4E47-4257-8224-526F8FC5C300}"/>
              </a:ext>
            </a:extLst>
          </p:cNvPr>
          <p:cNvSpPr>
            <a:spLocks noGrp="1"/>
          </p:cNvSpPr>
          <p:nvPr/>
        </p:nvSpPr>
        <p:spPr>
          <a:xfrm>
            <a:off x="6858000" y="4505325"/>
            <a:ext cx="4152900" cy="361950"/>
          </a:xfrm>
          <a:prstGeom prst="rect">
            <a:avLst/>
          </a:prstGeom>
          <a:noFill/>
          <a:ln w="0">
            <a:noFill/>
            <a:prstDash val="solid"/>
          </a:ln>
        </p:spPr>
        <p:txBody>
          <a:bodyPr wrap="square" lIns="0" tIns="0" rIns="0" bIns="0" anchor="ctr">
            <a:normAutofit/>
          </a:bodyPr>
          <a:lstStyle>
            <a:defPPr>
              <a:defRPr sz="1575" b="1">
                <a:solidFill>
                  <a:srgbClr val="F1F4FC"/>
                </a:solidFill>
                <a:latin typeface="Arial"/>
                <a:ea typeface="Arial"/>
                <a:cs typeface="Arial"/>
              </a:defRPr>
            </a:defPPr>
          </a:lstStyle>
          <a:p>
            <a:pPr>
              <a:defRPr sz="1575" b="1">
                <a:solidFill>
                  <a:srgbClr val="F1F4FC"/>
                </a:solidFill>
                <a:latin typeface="Arial"/>
                <a:ea typeface="Arial"/>
                <a:cs typeface="Arial"/>
              </a:defRPr>
            </a:pPr>
            <a:r>
              <a:rPr sz="1575" b="1">
                <a:solidFill>
                  <a:srgbClr val="F1F4FC"/>
                </a:solidFill>
                <a:latin typeface="Arial"/>
                <a:ea typeface="Arial"/>
                <a:cs typeface="Arial"/>
              </a:rPr>
              <a:t>Keep learning as tools change</a:t>
            </a:r>
          </a:p>
        </p:txBody>
      </p:sp>
      <p:sp>
        <p:nvSpPr>
          <p:cNvPr id="22" name="bottom-rule">
            <a:extLst>
              <a:ext uri="{FF2B5EF4-FFF2-40B4-BE49-F238E27FC236}">
                <a16:creationId xmlns:a16="http://schemas.microsoft.com/office/drawing/2014/main" id="{F599F68C-2C2C-44C9-84B3-C32B71DBA914}"/>
              </a:ext>
            </a:extLst>
          </p:cNvPr>
          <p:cNvSpPr>
            <a:spLocks noGrp="1"/>
          </p:cNvSpPr>
          <p:nvPr/>
        </p:nvSpPr>
        <p:spPr>
          <a:xfrm>
            <a:off x="666750" y="5534025"/>
            <a:ext cx="10858500" cy="9525"/>
          </a:xfrm>
          <a:prstGeom prst="rect">
            <a:avLst/>
          </a:prstGeom>
          <a:solidFill>
            <a:srgbClr val="263147"/>
          </a:solidFill>
          <a:ln w="0">
            <a:noFill/>
            <a:prstDash val="solid"/>
          </a:ln>
        </p:spPr>
        <p:txBody>
          <a:bodyPr/>
          <a:lstStyle/>
          <a:p>
            <a:endParaRPr lang="en-US"/>
          </a:p>
        </p:txBody>
      </p:sp>
      <p:sp>
        <p:nvSpPr>
          <p:cNvPr id="23" name="caveat">
            <a:extLst>
              <a:ext uri="{FF2B5EF4-FFF2-40B4-BE49-F238E27FC236}">
                <a16:creationId xmlns:a16="http://schemas.microsoft.com/office/drawing/2014/main" id="{FE44E3ED-DE1B-4B20-A8BB-85ACF972AB10}"/>
              </a:ext>
            </a:extLst>
          </p:cNvPr>
          <p:cNvSpPr>
            <a:spLocks noGrp="1"/>
          </p:cNvSpPr>
          <p:nvPr/>
        </p:nvSpPr>
        <p:spPr>
          <a:xfrm>
            <a:off x="685800" y="5676900"/>
            <a:ext cx="10839450" cy="342900"/>
          </a:xfrm>
          <a:prstGeom prst="rect">
            <a:avLst/>
          </a:prstGeom>
          <a:noFill/>
          <a:ln w="0">
            <a:noFill/>
            <a:prstDash val="solid"/>
          </a:ln>
        </p:spPr>
        <p:txBody>
          <a:bodyPr wrap="square" lIns="0" tIns="0" rIns="0" bIns="0" anchor="ctr">
            <a:normAutofit/>
          </a:bodyPr>
          <a:lstStyle>
            <a:defPPr>
              <a:defRPr sz="1500" b="1">
                <a:solidFill>
                  <a:srgbClr val="E5EAFE"/>
                </a:solidFill>
                <a:latin typeface="Arial"/>
                <a:ea typeface="Arial"/>
                <a:cs typeface="Arial"/>
              </a:defRPr>
            </a:defPPr>
          </a:lstStyle>
          <a:p>
            <a:pPr>
              <a:defRPr sz="1500" b="1">
                <a:solidFill>
                  <a:srgbClr val="E5EAFE"/>
                </a:solidFill>
                <a:latin typeface="Arial"/>
                <a:ea typeface="Arial"/>
                <a:cs typeface="Arial"/>
              </a:defRPr>
            </a:pPr>
            <a:r>
              <a:rPr sz="1500" b="1">
                <a:solidFill>
                  <a:srgbClr val="E5EAFE"/>
                </a:solidFill>
                <a:latin typeface="Arial"/>
                <a:ea typeface="Arial"/>
                <a:cs typeface="Arial"/>
              </a:rPr>
              <a:t>The reports don't prove AI caused fewer entry-level jobs.</a:t>
            </a:r>
          </a:p>
        </p:txBody>
      </p:sp>
      <p:sp>
        <p:nvSpPr>
          <p:cNvPr id="24" name="sources">
            <a:extLst>
              <a:ext uri="{FF2B5EF4-FFF2-40B4-BE49-F238E27FC236}">
                <a16:creationId xmlns:a16="http://schemas.microsoft.com/office/drawing/2014/main" id="{39088224-F633-4873-8E65-CFEFDC08A4DD}"/>
              </a:ext>
            </a:extLst>
          </p:cNvPr>
          <p:cNvSpPr>
            <a:spLocks noGrp="1"/>
          </p:cNvSpPr>
          <p:nvPr/>
        </p:nvSpPr>
        <p:spPr>
          <a:xfrm>
            <a:off x="685800" y="6191250"/>
            <a:ext cx="10858500" cy="228600"/>
          </a:xfrm>
          <a:prstGeom prst="rect">
            <a:avLst/>
          </a:prstGeom>
          <a:noFill/>
          <a:ln w="0">
            <a:noFill/>
            <a:prstDash val="solid"/>
          </a:ln>
        </p:spPr>
        <p:txBody>
          <a:bodyPr wrap="square" lIns="0" tIns="0" rIns="0" bIns="0" anchor="ctr">
            <a:normAutofit/>
          </a:bodyPr>
          <a:lstStyle>
            <a:defPPr>
              <a:defRPr sz="1125">
                <a:solidFill>
                  <a:srgbClr val="9AA7BE"/>
                </a:solidFill>
                <a:latin typeface="Arial"/>
                <a:ea typeface="Arial"/>
                <a:cs typeface="Arial"/>
              </a:defRPr>
            </a:defPPr>
          </a:lstStyle>
          <a:p>
            <a:pPr>
              <a:defRPr sz="1125">
                <a:solidFill>
                  <a:srgbClr val="9AA7BE"/>
                </a:solidFill>
                <a:latin typeface="Arial"/>
                <a:ea typeface="Arial"/>
                <a:cs typeface="Arial"/>
              </a:defRPr>
            </a:pPr>
            <a:r>
              <a:rPr sz="1125">
                <a:solidFill>
                  <a:srgbClr val="9AA7BE"/>
                </a:solidFill>
                <a:latin typeface="Arial"/>
                <a:ea typeface="Arial"/>
                <a:cs typeface="Arial"/>
              </a:rPr>
              <a:t>Sources: HackerRank (2025); LinkedIn Economic Graph (Feb. 2026); Indeed Hiring Lab (2025).</a:t>
            </a:r>
          </a:p>
        </p:txBody>
      </p:sp>
    </p:spTree>
    <p:extLst>
      <p:ext uri="{BB962C8B-B14F-4D97-AF65-F5344CB8AC3E}">
        <p14:creationId xmlns:p14="http://schemas.microsoft.com/office/powerpoint/2010/main" val="3479528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252</Words>
  <Application>Microsoft Macintosh PowerPoint</Application>
  <DocSecurity>0</DocSecurity>
  <PresentationFormat>Widescreen</PresentationFormat>
  <Paragraphs>25</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Aptos</vt:lpstr>
      <vt:lpstr>Arial</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Miray Ceylan</cp:lastModifiedBy>
  <cp:revision>1</cp:revision>
  <dcterms:created xsi:type="dcterms:W3CDTF">2026-10-20T23:52:26Z</dcterms:created>
  <dcterms:modified xsi:type="dcterms:W3CDTF">2026-10-20T23:53:31Z</dcterms:modified>
</cp:coreProperties>
</file>